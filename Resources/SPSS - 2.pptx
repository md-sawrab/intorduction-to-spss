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</p:sldMasterIdLst>
  <p:sldIdLst>
    <p:sldId id="257" r:id="rId3"/>
    <p:sldId id="273" r:id="rId4"/>
    <p:sldId id="274" r:id="rId5"/>
    <p:sldId id="275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4660"/>
  </p:normalViewPr>
  <p:slideViewPr>
    <p:cSldViewPr snapToGrid="0">
      <p:cViewPr varScale="1">
        <p:scale>
          <a:sx n="67" d="100"/>
          <a:sy n="67" d="100"/>
        </p:scale>
        <p:origin x="7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=""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>
            <a:extLst>
              <a:ext uri="{FF2B5EF4-FFF2-40B4-BE49-F238E27FC236}">
                <a16:creationId xmlns=""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=""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=""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66717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Right Triangle 18">
            <a:extLst>
              <a:ext uri="{FF2B5EF4-FFF2-40B4-BE49-F238E27FC236}">
                <a16:creationId xmlns=""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7" name="Parallelogram 16">
            <a:extLst>
              <a:ext uri="{FF2B5EF4-FFF2-40B4-BE49-F238E27FC236}">
                <a16:creationId xmlns=""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=""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=""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=""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=""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6">
            <a:extLst>
              <a:ext uri="{FF2B5EF4-FFF2-40B4-BE49-F238E27FC236}">
                <a16:creationId xmlns=""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=""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4417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title="Bullet Points">
            <a:extLst>
              <a:ext uri="{FF2B5EF4-FFF2-40B4-BE49-F238E27FC236}">
                <a16:creationId xmlns=""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Right Triangle 23">
            <a:extLst>
              <a:ext uri="{FF2B5EF4-FFF2-40B4-BE49-F238E27FC236}">
                <a16:creationId xmlns=""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5" name="Parallelogram 24">
            <a:extLst>
              <a:ext uri="{FF2B5EF4-FFF2-40B4-BE49-F238E27FC236}">
                <a16:creationId xmlns=""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=""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=""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3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Title 1" title="Title ">
            <a:extLst>
              <a:ext uri="{FF2B5EF4-FFF2-40B4-BE49-F238E27FC236}">
                <a16:creationId xmlns=""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=""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4167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ight Triangle 34">
            <a:extLst>
              <a:ext uri="{FF2B5EF4-FFF2-40B4-BE49-F238E27FC236}">
                <a16:creationId xmlns=""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=""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45720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" name="Content Placeholder 2" title="Bullet Points">
            <a:extLst>
              <a:ext uri="{FF2B5EF4-FFF2-40B4-BE49-F238E27FC236}">
                <a16:creationId xmlns=""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5" name="Parallelogram 24">
            <a:extLst>
              <a:ext uri="{FF2B5EF4-FFF2-40B4-BE49-F238E27FC236}">
                <a16:creationId xmlns=""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=""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=""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2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9" name="Title 1" title="Title ">
            <a:extLst>
              <a:ext uri="{FF2B5EF4-FFF2-40B4-BE49-F238E27FC236}">
                <a16:creationId xmlns=""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24A5A7-66A2-7F43-9A7A-5E13F74F8C0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val="320196943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=""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=""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=""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7" name="Text Placeholder 2">
            <a:extLst>
              <a:ext uri="{FF2B5EF4-FFF2-40B4-BE49-F238E27FC236}">
                <a16:creationId xmlns=""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8" name="Content Placeholder 3" title="Bullet Points">
            <a:extLst>
              <a:ext uri="{FF2B5EF4-FFF2-40B4-BE49-F238E27FC236}">
                <a16:creationId xmlns=""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Click to 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9" name="Text Placeholder 4">
            <a:extLst>
              <a:ext uri="{FF2B5EF4-FFF2-40B4-BE49-F238E27FC236}">
                <a16:creationId xmlns=""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0" name="Content Placeholder 5" title="Bullet Points">
            <a:extLst>
              <a:ext uri="{FF2B5EF4-FFF2-40B4-BE49-F238E27FC236}">
                <a16:creationId xmlns=""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Click to 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Text Placeholder 4" title="Subtitle">
            <a:extLst>
              <a:ext uri="{FF2B5EF4-FFF2-40B4-BE49-F238E27FC236}">
                <a16:creationId xmlns=""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=""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27" name="Title 1" title="Title ">
            <a:extLst>
              <a:ext uri="{FF2B5EF4-FFF2-40B4-BE49-F238E27FC236}">
                <a16:creationId xmlns=""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14456677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8FB39FF5-7AF5-4963-9346-2640496A3302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Diagonal Stripe 28">
              <a:extLst>
                <a:ext uri="{FF2B5EF4-FFF2-40B4-BE49-F238E27FC236}">
                  <a16:creationId xmlns=""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=""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lelogram 30">
              <a:extLst>
                <a:ext uri="{FF2B5EF4-FFF2-40B4-BE49-F238E27FC236}">
                  <a16:creationId xmlns=""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3" name="Parallelogram 32">
            <a:extLst>
              <a:ext uri="{FF2B5EF4-FFF2-40B4-BE49-F238E27FC236}">
                <a16:creationId xmlns=""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4" name="Text Placeholder 4" title="Subtitle">
            <a:extLst>
              <a:ext uri="{FF2B5EF4-FFF2-40B4-BE49-F238E27FC236}">
                <a16:creationId xmlns=""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17" name="Title 1" title="Title ">
            <a:extLst>
              <a:ext uri="{FF2B5EF4-FFF2-40B4-BE49-F238E27FC236}">
                <a16:creationId xmlns=""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here</a:t>
            </a:r>
          </a:p>
        </p:txBody>
      </p:sp>
      <p:sp>
        <p:nvSpPr>
          <p:cNvPr id="20" name="Chart Placeholder 2" title="Chart">
            <a:extLst>
              <a:ext uri="{FF2B5EF4-FFF2-40B4-BE49-F238E27FC236}">
                <a16:creationId xmlns=""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smtClean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21860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69EF72CE-34D2-4581-98D2-89218BC1B4E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=""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=""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lelogram 32">
              <a:extLst>
                <a:ext uri="{FF2B5EF4-FFF2-40B4-BE49-F238E27FC236}">
                  <a16:creationId xmlns=""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=""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7" name="Text Placeholder 4" title="Subtitle">
            <a:extLst>
              <a:ext uri="{FF2B5EF4-FFF2-40B4-BE49-F238E27FC236}">
                <a16:creationId xmlns=""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17" name="Title 1" title="Title ">
            <a:extLst>
              <a:ext uri="{FF2B5EF4-FFF2-40B4-BE49-F238E27FC236}">
                <a16:creationId xmlns=""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5" name="Table Placeholder 11" title="Table">
            <a:extLst>
              <a:ext uri="{FF2B5EF4-FFF2-40B4-BE49-F238E27FC236}">
                <a16:creationId xmlns=""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 smtClean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73253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BCAFD81C-E6E5-4292-828B-BD147E6DEA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=""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Picture Placeholder 31" title="Image">
            <a:extLst>
              <a:ext uri="{FF2B5EF4-FFF2-40B4-BE49-F238E27FC236}">
                <a16:creationId xmlns=""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 title="Title ">
            <a:extLst>
              <a:ext uri="{FF2B5EF4-FFF2-40B4-BE49-F238E27FC236}">
                <a16:creationId xmlns=""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Add Caption Here</a:t>
            </a:r>
          </a:p>
        </p:txBody>
      </p:sp>
    </p:spTree>
    <p:extLst>
      <p:ext uri="{BB962C8B-B14F-4D97-AF65-F5344CB8AC3E}">
        <p14:creationId xmlns:p14="http://schemas.microsoft.com/office/powerpoint/2010/main" val="419713218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40A6720D-B182-4290-BD91-1D1E4D9306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=""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=""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Phone Number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=""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Email 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=""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Company Website</a:t>
            </a:r>
          </a:p>
        </p:txBody>
      </p:sp>
      <p:sp>
        <p:nvSpPr>
          <p:cNvPr id="14" name="Shape 4157">
            <a:extLst>
              <a:ext uri="{FF2B5EF4-FFF2-40B4-BE49-F238E27FC236}">
                <a16:creationId xmlns=""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sz="30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 SemiBold"/>
              <a:ea typeface="Gill Sans SemiBold"/>
              <a:cs typeface="Gill Sans SemiBold"/>
              <a:sym typeface="Gill Sans SemiBold"/>
            </a:endParaRPr>
          </a:p>
        </p:txBody>
      </p:sp>
      <p:sp>
        <p:nvSpPr>
          <p:cNvPr id="15" name="Shape 4186">
            <a:extLst>
              <a:ext uri="{FF2B5EF4-FFF2-40B4-BE49-F238E27FC236}">
                <a16:creationId xmlns=""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sz="30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 SemiBold"/>
              <a:ea typeface="Gill Sans SemiBold"/>
              <a:cs typeface="Gill Sans SemiBold"/>
              <a:sym typeface="Gill Sans SemiBold"/>
            </a:endParaRPr>
          </a:p>
        </p:txBody>
      </p:sp>
      <p:sp>
        <p:nvSpPr>
          <p:cNvPr id="19" name="Shape 4379">
            <a:extLst>
              <a:ext uri="{FF2B5EF4-FFF2-40B4-BE49-F238E27FC236}">
                <a16:creationId xmlns=""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sz="30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 SemiBold"/>
              <a:ea typeface="Gill Sans SemiBold"/>
              <a:cs typeface="Gill Sans SemiBold"/>
              <a:sym typeface="Gill Sans SemiBold"/>
            </a:endParaRPr>
          </a:p>
        </p:txBody>
      </p:sp>
      <p:sp>
        <p:nvSpPr>
          <p:cNvPr id="20" name="Shape 4487">
            <a:extLst>
              <a:ext uri="{FF2B5EF4-FFF2-40B4-BE49-F238E27FC236}">
                <a16:creationId xmlns=""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sz="30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 SemiBold"/>
              <a:ea typeface="Gill Sans SemiBold"/>
              <a:cs typeface="Gill Sans SemiBold"/>
              <a:sym typeface="Gill Sans SemiBold"/>
            </a:endParaRPr>
          </a:p>
        </p:txBody>
      </p:sp>
      <p:sp>
        <p:nvSpPr>
          <p:cNvPr id="21" name="Right Triangle 20">
            <a:extLst>
              <a:ext uri="{FF2B5EF4-FFF2-40B4-BE49-F238E27FC236}">
                <a16:creationId xmlns=""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4">
            <a:extLst>
              <a:ext uri="{FF2B5EF4-FFF2-40B4-BE49-F238E27FC236}">
                <a16:creationId xmlns=""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 title="Title">
            <a:extLst>
              <a:ext uri="{FF2B5EF4-FFF2-40B4-BE49-F238E27FC236}">
                <a16:creationId xmlns=""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631974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=""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=""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=""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20239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Right Triangle 18">
            <a:extLst>
              <a:ext uri="{FF2B5EF4-FFF2-40B4-BE49-F238E27FC236}">
                <a16:creationId xmlns=""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7" name="Parallelogram 16">
            <a:extLst>
              <a:ext uri="{FF2B5EF4-FFF2-40B4-BE49-F238E27FC236}">
                <a16:creationId xmlns=""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=""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=""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=""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=""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=""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18680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=""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=""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=""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=""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27" name="Title 1" title="Title ">
            <a:extLst>
              <a:ext uri="{FF2B5EF4-FFF2-40B4-BE49-F238E27FC236}">
                <a16:creationId xmlns=""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=""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6021488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=""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=""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=""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=""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27" name="Title 1" title="Title ">
            <a:extLst>
              <a:ext uri="{FF2B5EF4-FFF2-40B4-BE49-F238E27FC236}">
                <a16:creationId xmlns=""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Content Placeholder 3">
            <a:extLst>
              <a:ext uri="{FF2B5EF4-FFF2-40B4-BE49-F238E27FC236}">
                <a16:creationId xmlns=""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9859166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=""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=""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=""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=""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27" name="Title 1" title="Title ">
            <a:extLst>
              <a:ext uri="{FF2B5EF4-FFF2-40B4-BE49-F238E27FC236}">
                <a16:creationId xmlns=""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=""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=""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=""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Content Placeholder 3">
            <a:extLst>
              <a:ext uri="{FF2B5EF4-FFF2-40B4-BE49-F238E27FC236}">
                <a16:creationId xmlns=""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777600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=""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=""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=""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470050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=""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=""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=""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=""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40931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37A5C384-78D0-4088-9411-AB6790574770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=""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=""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lelogram 28">
              <a:extLst>
                <a:ext uri="{FF2B5EF4-FFF2-40B4-BE49-F238E27FC236}">
                  <a16:creationId xmlns=""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0" name="Parallelogram 29">
            <a:extLst>
              <a:ext uri="{FF2B5EF4-FFF2-40B4-BE49-F238E27FC236}">
                <a16:creationId xmlns=""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15304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=""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=""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=""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=""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9468498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=""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3F3F3F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=""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=""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=""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C0A2D954-332B-47D0-BE9F-0F2BDE7795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6131" y="1979613"/>
            <a:ext cx="9139738" cy="2898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865604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DAB3FE-9015-40FD-A870-D81B5A86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23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=""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=""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=""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=""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=""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=""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=""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=""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=""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=""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=""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=""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086991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=""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=""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=""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=""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=""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=""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37050383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=""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=""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=""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=""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=""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=""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=""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979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=""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=""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>
                <a:solidFill>
                  <a:srgbClr val="0065A4">
                    <a:lumMod val="60000"/>
                    <a:lumOff val="40000"/>
                  </a:srgbClr>
                </a:solidFill>
                <a:latin typeface="Trebuchet MS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=""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9070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=""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602052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171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13871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=""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29156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=""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=""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=""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=""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20869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=""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=""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827259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=""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=""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=""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=""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=""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=""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=""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=""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=""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=""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=""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=""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484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=""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=""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35706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41412727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Picture Placeholder 2">
            <a:extLst>
              <a:ext uri="{FF2B5EF4-FFF2-40B4-BE49-F238E27FC236}">
                <a16:creationId xmlns=""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6059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=""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27477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Freeform: Shape 9">
            <a:extLst>
              <a:ext uri="{FF2B5EF4-FFF2-40B4-BE49-F238E27FC236}">
                <a16:creationId xmlns=""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Freeform: Shape 17">
            <a:extLst>
              <a:ext uri="{FF2B5EF4-FFF2-40B4-BE49-F238E27FC236}">
                <a16:creationId xmlns=""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1" name="Freeform: Shape 11">
            <a:extLst>
              <a:ext uri="{FF2B5EF4-FFF2-40B4-BE49-F238E27FC236}">
                <a16:creationId xmlns=""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2" name="Freeform: Shape 7">
            <a:extLst>
              <a:ext uri="{FF2B5EF4-FFF2-40B4-BE49-F238E27FC236}">
                <a16:creationId xmlns=""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=""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=""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=""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1" name="Slide Number Placeholder 4">
            <a:extLst>
              <a:ext uri="{FF2B5EF4-FFF2-40B4-BE49-F238E27FC236}">
                <a16:creationId xmlns=""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1405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=""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=""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=""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=""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881025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=""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=""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35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dirty="0">
                <a:solidFill>
                  <a:srgbClr val="A5A5A5"/>
                </a:solidFill>
              </a:rPr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8699F50C-BE38-4BD0-BA84-9B090E1F2B9B}" type="slidenum">
              <a:rPr lang="en-US" smtClean="0">
                <a:solidFill>
                  <a:srgbClr val="A5A5A5"/>
                </a:solidFill>
              </a:rPr>
              <a:pPr/>
              <a:t>‹#›</a:t>
            </a:fld>
            <a:endParaRPr lang="en-US" dirty="0">
              <a:solidFill>
                <a:srgbClr val="A5A5A5"/>
              </a:solidFill>
            </a:endParaRPr>
          </a:p>
        </p:txBody>
      </p:sp>
      <p:sp>
        <p:nvSpPr>
          <p:cNvPr id="9" name="Title Placeholder 8">
            <a:extLst>
              <a:ext uri="{FF2B5EF4-FFF2-40B4-BE49-F238E27FC236}">
                <a16:creationId xmlns=""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73150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=""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Freeform: Shape 17">
            <a:extLst>
              <a:ext uri="{FF2B5EF4-FFF2-40B4-BE49-F238E27FC236}">
                <a16:creationId xmlns=""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Freeform: Shape 11">
            <a:extLst>
              <a:ext uri="{FF2B5EF4-FFF2-40B4-BE49-F238E27FC236}">
                <a16:creationId xmlns=""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Freeform: Shape 7">
            <a:extLst>
              <a:ext uri="{FF2B5EF4-FFF2-40B4-BE49-F238E27FC236}">
                <a16:creationId xmlns=""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FFFFFF"/>
                </a:solidFill>
                <a:latin typeface="Trebuchet MS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=""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=""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=""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=""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=""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Slide Number Placeholder 4">
            <a:extLst>
              <a:ext uri="{FF2B5EF4-FFF2-40B4-BE49-F238E27FC236}">
                <a16:creationId xmlns=""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88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exagon 17">
            <a:extLst>
              <a:ext uri="{FF2B5EF4-FFF2-40B4-BE49-F238E27FC236}">
                <a16:creationId xmlns="" xmlns:a16="http://schemas.microsoft.com/office/drawing/2014/main" id="{0E6B042D-E9CB-40E0-AAE9-6AD11F53E04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608694" y="2395172"/>
            <a:ext cx="2412998" cy="2080172"/>
          </a:xfrm>
          <a:prstGeom prst="hexagon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94DF2E04-7632-4FED-B0BF-8FB243D982A3}"/>
              </a:ext>
            </a:extLst>
          </p:cNvPr>
          <p:cNvSpPr txBox="1"/>
          <p:nvPr/>
        </p:nvSpPr>
        <p:spPr>
          <a:xfrm>
            <a:off x="3312491" y="2814210"/>
            <a:ext cx="1005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>
                <a:solidFill>
                  <a:srgbClr val="FFFFFF"/>
                </a:solidFill>
                <a:latin typeface="Arial Black" panose="020B0A04020102020204" pitchFamily="34" charset="0"/>
              </a:rPr>
              <a:t>on</a:t>
            </a:r>
            <a:endParaRPr lang="en-US" sz="48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5721" y="2006084"/>
            <a:ext cx="5816279" cy="1616252"/>
          </a:xfrm>
        </p:spPr>
        <p:txBody>
          <a:bodyPr>
            <a:normAutofit/>
          </a:bodyPr>
          <a:lstStyle/>
          <a:p>
            <a:r>
              <a:rPr lang="en-US" sz="5400" dirty="0" smtClean="0">
                <a:solidFill>
                  <a:schemeClr val="accent1">
                    <a:lumMod val="50000"/>
                    <a:lumOff val="50000"/>
                  </a:schemeClr>
                </a:solidFill>
              </a:rPr>
              <a:t>INTRODUCTION TO</a:t>
            </a:r>
            <a:endParaRPr lang="en-US" sz="5400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2883" y="3640998"/>
            <a:ext cx="6353472" cy="2001518"/>
          </a:xfrm>
        </p:spPr>
        <p:txBody>
          <a:bodyPr/>
          <a:lstStyle/>
          <a:p>
            <a:r>
              <a:rPr lang="en-US" sz="8800" b="1" dirty="0" smtClean="0">
                <a:latin typeface="Arial Rounded MT Bold" panose="020F0704030504030204" pitchFamily="34" charset="0"/>
              </a:rPr>
              <a:t>     </a:t>
            </a:r>
            <a:r>
              <a:rPr lang="en-US" sz="8800" b="1" dirty="0" smtClean="0">
                <a:solidFill>
                  <a:schemeClr val="accent1">
                    <a:lumMod val="90000"/>
                    <a:lumOff val="10000"/>
                  </a:schemeClr>
                </a:solidFill>
                <a:latin typeface="Arial Rounded MT Bold" panose="020F0704030504030204" pitchFamily="34" charset="0"/>
              </a:rPr>
              <a:t>SPSS</a:t>
            </a:r>
            <a:endParaRPr lang="en-US" sz="8800" b="1" dirty="0">
              <a:solidFill>
                <a:schemeClr val="accent1">
                  <a:lumMod val="90000"/>
                  <a:lumOff val="1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39340" y="1823918"/>
            <a:ext cx="39363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solidFill>
                  <a:srgbClr val="FFFFFF"/>
                </a:solidFill>
              </a:rPr>
              <a:t>Session</a:t>
            </a:r>
            <a:endParaRPr lang="en-US" sz="6600" b="1" dirty="0">
              <a:solidFill>
                <a:srgbClr val="FFFFFF"/>
              </a:solidFill>
            </a:endParaRPr>
          </a:p>
        </p:txBody>
      </p:sp>
      <p:sp>
        <p:nvSpPr>
          <p:cNvPr id="6" name="Hexagon 5"/>
          <p:cNvSpPr/>
          <p:nvPr/>
        </p:nvSpPr>
        <p:spPr>
          <a:xfrm rot="16200000">
            <a:off x="1612986" y="1635103"/>
            <a:ext cx="4605329" cy="3974465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3D638ACE-163E-40EB-A458-E794C67EA2A6}"/>
              </a:ext>
            </a:extLst>
          </p:cNvPr>
          <p:cNvSpPr txBox="1">
            <a:spLocks/>
          </p:cNvSpPr>
          <p:nvPr/>
        </p:nvSpPr>
        <p:spPr>
          <a:xfrm>
            <a:off x="5731432" y="4812996"/>
            <a:ext cx="5816279" cy="1616252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Instructor: </a:t>
            </a:r>
          </a:p>
          <a:p>
            <a:endParaRPr lang="en-US" sz="5400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5400" dirty="0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Md. </a:t>
            </a:r>
            <a:r>
              <a:rPr lang="en-US" sz="5400" dirty="0" err="1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Safayet</a:t>
            </a:r>
            <a:r>
              <a:rPr lang="en-US" sz="5400" dirty="0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Hossain</a:t>
            </a:r>
          </a:p>
          <a:p>
            <a:r>
              <a:rPr lang="en-US" sz="5400" dirty="0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Lecturer, </a:t>
            </a:r>
          </a:p>
          <a:p>
            <a:r>
              <a:rPr lang="en-US" sz="5400" dirty="0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Statistics</a:t>
            </a:r>
          </a:p>
          <a:p>
            <a:r>
              <a:rPr lang="en-US" sz="5400" dirty="0" err="1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Comilla</a:t>
            </a:r>
            <a:r>
              <a:rPr lang="en-US" sz="5400" dirty="0" smtClean="0">
                <a:solidFill>
                  <a:schemeClr val="tx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University</a:t>
            </a:r>
            <a:endParaRPr lang="en-US" sz="5400" dirty="0">
              <a:solidFill>
                <a:schemeClr val="tx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039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Central Tendency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6" descr="Statistical Measures of Central Tendenc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4" y="2544178"/>
            <a:ext cx="4467226" cy="3460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22274" y="1556345"/>
            <a:ext cx="112363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Central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tendency: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Central tendency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statistical concept that describes the central or typical value of a dataset, around which all other observations tend to cluster</a:t>
            </a:r>
          </a:p>
        </p:txBody>
      </p:sp>
      <p:pic>
        <p:nvPicPr>
          <p:cNvPr id="8" name="Picture 8" descr="Central tendency | By Camilo Mora, Ph.D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977" y="3035706"/>
            <a:ext cx="5721519" cy="244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89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3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Dispersion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314450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22274" y="1556345"/>
            <a:ext cx="112363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Measures of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dispersion: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Measures of dispersion describe the spread or variability of data values around a central value (mean, median, or mode). They show how scattered or consistent the data is.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84552" y="2656585"/>
            <a:ext cx="5543920" cy="33169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22273" y="2274906"/>
            <a:ext cx="57264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Absolute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measures: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Absolute measures show the actual amount of variation in the same unit as the data. They express dispersion in original units (kg, years, income, etc.)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273" y="3506124"/>
            <a:ext cx="55400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Relative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measures: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Relative measures show the proportional or percentage variation relative to the central value. They are unit-free (standardized)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4432" t="2814" r="8167" b="22165"/>
          <a:stretch/>
        </p:blipFill>
        <p:spPr>
          <a:xfrm>
            <a:off x="1003299" y="4493213"/>
            <a:ext cx="3848101" cy="230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4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4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err="1" smtClean="0"/>
              <a:t>Skeness</a:t>
            </a:r>
            <a:r>
              <a:rPr lang="en-US" dirty="0" smtClean="0"/>
              <a:t> and Kurtosis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278731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41300" y="2593181"/>
            <a:ext cx="5200650" cy="1457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Measures asymmetry of data distribution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Skewness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= 0 → perfectly symmetric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Positive skew → tail extends right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Negative skew → tail extends left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241300" y="1450181"/>
            <a:ext cx="5230813" cy="1007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 sz="2400"/>
            </a:pPr>
            <a:r>
              <a:rPr lang="en-US" sz="1800" b="1" dirty="0" err="1" smtClean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Skewness</a:t>
            </a:r>
            <a:r>
              <a:rPr lang="en-US" sz="1800" dirty="0" smtClean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800" dirty="0" err="1" smtClean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Skewness</a:t>
            </a:r>
            <a:r>
              <a:rPr lang="en-US" sz="1800" dirty="0" smtClean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a statistical measure that describes the degree and direction of asymmetry in a data distribution around its mean.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6216650" y="1443037"/>
            <a:ext cx="5441950" cy="10072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 sz="2400"/>
            </a:pPr>
            <a:r>
              <a:rPr lang="en-US" sz="1800" b="1" dirty="0" smtClean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Kurtosis:</a:t>
            </a:r>
            <a:r>
              <a:rPr lang="en-US" sz="1800" dirty="0" smtClean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Kurtosis </a:t>
            </a:r>
            <a:r>
              <a:rPr lang="en-US" sz="1800" dirty="0" smtClean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</a:t>
            </a:r>
            <a:r>
              <a:rPr lang="en-US" sz="1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statistical measure that indicates the shape of a distribution, particularly its </a:t>
            </a:r>
            <a:r>
              <a:rPr lang="en-US" sz="1800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peakedness</a:t>
            </a:r>
            <a:r>
              <a:rPr lang="en-US" sz="18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and heaviness of tails compared to a normal distribution.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216650" y="2337846"/>
            <a:ext cx="5856288" cy="1007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Arial" panose="020B0604020202020204" pitchFamily="34" charset="0"/>
              <a:buChar char="•"/>
              <a:defRPr sz="2400"/>
            </a:pPr>
            <a:r>
              <a:rPr lang="en-US" sz="16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Kurtosis = 3 → Normal distribution (</a:t>
            </a:r>
            <a:r>
              <a:rPr lang="en-US" sz="1600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Mesokurtic</a:t>
            </a:r>
            <a:r>
              <a:rPr lang="en-US" sz="1600" dirty="0" smtClean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lvl="0">
              <a:buFont typeface="Arial" panose="020B0604020202020204" pitchFamily="34" charset="0"/>
              <a:buChar char="•"/>
              <a:defRPr sz="2400"/>
            </a:pPr>
            <a:r>
              <a:rPr lang="en-US" sz="1600" dirty="0" smtClean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Kurtosis </a:t>
            </a:r>
            <a:r>
              <a:rPr lang="en-US" sz="16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&gt; 3 → More peaked, heavier tails (Leptokurtic</a:t>
            </a:r>
            <a:r>
              <a:rPr lang="en-US" sz="1600" dirty="0" smtClean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lvl="0">
              <a:buFont typeface="Arial" panose="020B0604020202020204" pitchFamily="34" charset="0"/>
              <a:buChar char="•"/>
              <a:defRPr sz="2400"/>
            </a:pPr>
            <a:r>
              <a:rPr lang="en-US" sz="1600" dirty="0" smtClean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Kurtosis </a:t>
            </a:r>
            <a:r>
              <a:rPr lang="en-US" sz="16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 3 → Flatter peak, lighter tails (</a:t>
            </a:r>
            <a:r>
              <a:rPr lang="en-US" sz="1600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Platykurtic</a:t>
            </a:r>
            <a:r>
              <a:rPr lang="en-US" sz="1600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25371"/>
          <a:stretch/>
        </p:blipFill>
        <p:spPr>
          <a:xfrm>
            <a:off x="414338" y="4404230"/>
            <a:ext cx="6041048" cy="2202244"/>
          </a:xfrm>
          <a:prstGeom prst="rect">
            <a:avLst/>
          </a:prstGeom>
        </p:spPr>
      </p:pic>
      <p:sp>
        <p:nvSpPr>
          <p:cNvPr id="17" name="Title 1"/>
          <p:cNvSpPr txBox="1">
            <a:spLocks/>
          </p:cNvSpPr>
          <p:nvPr/>
        </p:nvSpPr>
        <p:spPr>
          <a:xfrm>
            <a:off x="7760495" y="3876615"/>
            <a:ext cx="3230562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Important?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7305674" y="4385343"/>
            <a:ext cx="5500688" cy="1014412"/>
          </a:xfrm>
        </p:spPr>
        <p:txBody>
          <a:bodyPr>
            <a:normAutofit lnSpcReduction="100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 sz="2400"/>
            </a:pPr>
            <a:r>
              <a:rPr sz="1800" b="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Checks normality assumptions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2400"/>
            </a:pPr>
            <a:r>
              <a:rPr sz="1800" b="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Useful before regression or parametric tests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2400"/>
            </a:pPr>
            <a:r>
              <a:rPr sz="1800" b="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Helps identify outliers/extreme </a:t>
            </a:r>
            <a:r>
              <a:rPr sz="1800" b="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values</a:t>
            </a:r>
            <a:endParaRPr sz="1800" b="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09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5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Normality check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278731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99" y="1278731"/>
            <a:ext cx="5330825" cy="5036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5" y="1387078"/>
            <a:ext cx="4395788" cy="337689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650" y="4050506"/>
            <a:ext cx="2752725" cy="220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4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>
                <a:solidFill>
                  <a:srgbClr val="FFFFFF"/>
                </a:solidFill>
              </a:rPr>
              <a:pPr/>
              <a:t>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1300" y="437417"/>
            <a:ext cx="11214100" cy="535531"/>
          </a:xfrm>
        </p:spPr>
        <p:txBody>
          <a:bodyPr/>
          <a:lstStyle/>
          <a:p>
            <a:r>
              <a:rPr lang="en-US" dirty="0" smtClean="0"/>
              <a:t>Outlier detection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278731"/>
            <a:ext cx="12192000" cy="554355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67" y="1935091"/>
            <a:ext cx="6025882" cy="43799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968103"/>
            <a:ext cx="49625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46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Custom 13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89027928_Hexagon presentation dark_AAS_v4" id="{00715B48-F6B0-4FD0-BA2D-34714F23D55A}" vid="{445656DE-313E-4A78-B834-A775A8573BF1}"/>
    </a:ext>
  </a:extLst>
</a:theme>
</file>

<file path=ppt/theme/theme2.xml><?xml version="1.0" encoding="utf-8"?>
<a:theme xmlns:a="http://schemas.openxmlformats.org/drawingml/2006/main" name="2_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279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Arial</vt:lpstr>
      <vt:lpstr>Arial Black</vt:lpstr>
      <vt:lpstr>Arial Rounded MT Bold</vt:lpstr>
      <vt:lpstr>Calibri</vt:lpstr>
      <vt:lpstr>Calibri Light</vt:lpstr>
      <vt:lpstr>Cambria</vt:lpstr>
      <vt:lpstr>CiscoSans ExtraLight</vt:lpstr>
      <vt:lpstr>Gill Sans SemiBold</vt:lpstr>
      <vt:lpstr>Tahoma</vt:lpstr>
      <vt:lpstr>Times New Roman</vt:lpstr>
      <vt:lpstr>Trade Gothic LT Pro</vt:lpstr>
      <vt:lpstr>Trebuchet MS</vt:lpstr>
      <vt:lpstr>1_Office Theme</vt:lpstr>
      <vt:lpstr>2_Office Theme</vt:lpstr>
      <vt:lpstr>INTRODUCTION TO</vt:lpstr>
      <vt:lpstr>Central Tendency </vt:lpstr>
      <vt:lpstr>Dispersion</vt:lpstr>
      <vt:lpstr>Skeness and Kurtosis</vt:lpstr>
      <vt:lpstr>Normality check</vt:lpstr>
      <vt:lpstr>Outlier detection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65</cp:revision>
  <dcterms:created xsi:type="dcterms:W3CDTF">2026-05-01T03:43:56Z</dcterms:created>
  <dcterms:modified xsi:type="dcterms:W3CDTF">2026-05-02T15:19:37Z</dcterms:modified>
</cp:coreProperties>
</file>