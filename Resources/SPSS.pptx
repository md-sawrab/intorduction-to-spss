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sldIdLst>
    <p:sldId id="257" r:id="rId3"/>
    <p:sldId id="258" r:id="rId4"/>
    <p:sldId id="259" r:id="rId5"/>
    <p:sldId id="260" r:id="rId6"/>
    <p:sldId id="263" r:id="rId7"/>
    <p:sldId id="264" r:id="rId8"/>
    <p:sldId id="261" r:id="rId9"/>
    <p:sldId id="265" r:id="rId10"/>
    <p:sldId id="266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xmlns="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xmlns="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xmlns="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66717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xmlns="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xmlns="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xmlns="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xmlns="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xmlns="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xmlns="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xmlns="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4417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xmlns="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xmlns="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xmlns="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xmlns="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xmlns="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4167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xmlns="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xmlns="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xmlns="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xmlns="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xmlns="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xmlns="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32019694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xmlns="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xmlns="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xmlns="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xmlns="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xmlns="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xmlns="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xmlns="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xmlns="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14456677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xmlns="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xmlns="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xmlns="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xmlns="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xmlns="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xmlns="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xmlns="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21860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xmlns="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xmlns="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xmlns="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xmlns="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xmlns="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xmlns="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73253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xmlns="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xmlns="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xmlns="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19713218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xmlns="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xmlns="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xmlns="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xmlns="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xmlns="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 SemiBold"/>
              <a:ea typeface="Gill Sans SemiBold"/>
              <a:cs typeface="Gill Sans SemiBold"/>
              <a:sym typeface="Gill Sans SemiBold"/>
            </a:endParaRPr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xmlns="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 SemiBold"/>
              <a:ea typeface="Gill Sans SemiBold"/>
              <a:cs typeface="Gill Sans SemiBold"/>
              <a:sym typeface="Gill Sans SemiBold"/>
            </a:endParaRPr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xmlns="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 SemiBold"/>
              <a:ea typeface="Gill Sans SemiBold"/>
              <a:cs typeface="Gill Sans SemiBold"/>
              <a:sym typeface="Gill Sans SemiBold"/>
            </a:endParaRPr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xmlns="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 SemiBold"/>
              <a:ea typeface="Gill Sans SemiBold"/>
              <a:cs typeface="Gill Sans SemiBold"/>
              <a:sym typeface="Gill Sans SemiBold"/>
            </a:endParaRPr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xmlns="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xmlns="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63197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xmlns="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xmlns="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20239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xmlns="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xmlns="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xmlns="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xmlns="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xmlns="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xmlns="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1868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xmlns="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xmlns="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xmlns="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xmlns="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6021488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xmlns="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xmlns="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xmlns="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xmlns="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xmlns="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9859166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xmlns="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xmlns="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xmlns="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xmlns="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xmlns="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xmlns="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xmlns="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xmlns="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777600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xmlns="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xmlns="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470050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xmlns="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xmlns="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xmlns="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xmlns="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40931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xmlns="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xmlns="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xmlns="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153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xmlns="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xmlns="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xmlns="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xmlns="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9468498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xmlns="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xmlns="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xmlns="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xmlns="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C0A2D954-332B-47D0-BE9F-0F2BDE779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6131" y="1979613"/>
            <a:ext cx="9139738" cy="2898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865604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23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xmlns="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xmlns="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xmlns="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xmlns="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xmlns="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xmlns="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xmlns="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xmlns="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xmlns="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08699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xmlns="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xmlns="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37050383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xmlns="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xmlns="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979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>
                <a:solidFill>
                  <a:srgbClr val="0065A4">
                    <a:lumMod val="60000"/>
                    <a:lumOff val="40000"/>
                  </a:srgbClr>
                </a:solidFill>
                <a:latin typeface="Trebuchet MS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9070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60205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171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13871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29156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xmlns="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xmlns="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xmlns="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20869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xmlns="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827259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xmlns="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xmlns="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xmlns="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xmlns="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xmlns="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484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xmlns="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xmlns="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35706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1412727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xmlns="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6059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xmlns="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27477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xmlns="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xmlns="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xmlns="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xmlns="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xmlns="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xmlns="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xmlns="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xmlns="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1405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xmlns="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81025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xmlns="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35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xmlns="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7315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xmlns="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xmlns="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xmlns="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xmlns="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  <a:latin typeface="Trebuchet MS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xmlns="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xmlns="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xmlns="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xmlns="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xmlns="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88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.png"/><Relationship Id="rId5" Type="http://schemas.microsoft.com/office/2007/relationships/hdphoto" Target="../media/hdphoto4.wdp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2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jpeg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Word_Document1.docx"/><Relationship Id="rId5" Type="http://schemas.openxmlformats.org/officeDocument/2006/relationships/oleObject" Target="../embeddings/oleObject1.bin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Document2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Relationship Id="rId5" Type="http://schemas.microsoft.com/office/2007/relationships/hdphoto" Target="../media/hdphoto10.wdp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0E6B042D-E9CB-40E0-AAE9-6AD11F53E0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6200000">
            <a:off x="2608694" y="2395172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4DF2E04-7632-4FED-B0BF-8FB243D982A3}"/>
              </a:ext>
            </a:extLst>
          </p:cNvPr>
          <p:cNvSpPr txBox="1"/>
          <p:nvPr/>
        </p:nvSpPr>
        <p:spPr>
          <a:xfrm>
            <a:off x="3312491" y="2814210"/>
            <a:ext cx="1005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rgbClr val="FFFFFF"/>
                </a:solidFill>
                <a:latin typeface="Arial Black" panose="020B0A04020102020204" pitchFamily="34" charset="0"/>
              </a:rPr>
              <a:t>on</a:t>
            </a:r>
            <a:endParaRPr lang="en-US" sz="48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5721" y="2006084"/>
            <a:ext cx="5816279" cy="1616252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chemeClr val="accent1">
                    <a:lumMod val="50000"/>
                    <a:lumOff val="50000"/>
                  </a:schemeClr>
                </a:solidFill>
              </a:rPr>
              <a:t>INTRODUCTION TO</a:t>
            </a:r>
            <a:endParaRPr lang="en-US" sz="54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2883" y="3640998"/>
            <a:ext cx="6353472" cy="2001518"/>
          </a:xfrm>
        </p:spPr>
        <p:txBody>
          <a:bodyPr/>
          <a:lstStyle/>
          <a:p>
            <a:r>
              <a:rPr lang="en-US" sz="8800" b="1" dirty="0" smtClean="0">
                <a:latin typeface="Arial Rounded MT Bold" panose="020F0704030504030204" pitchFamily="34" charset="0"/>
              </a:rPr>
              <a:t>     </a:t>
            </a:r>
            <a:r>
              <a:rPr lang="en-US" sz="8800" b="1" dirty="0" smtClean="0">
                <a:solidFill>
                  <a:schemeClr val="accent1">
                    <a:lumMod val="90000"/>
                    <a:lumOff val="10000"/>
                  </a:schemeClr>
                </a:solidFill>
                <a:latin typeface="Arial Rounded MT Bold" panose="020F0704030504030204" pitchFamily="34" charset="0"/>
              </a:rPr>
              <a:t>SPSS</a:t>
            </a:r>
            <a:endParaRPr lang="en-US" sz="8800" b="1" dirty="0">
              <a:solidFill>
                <a:schemeClr val="accent1">
                  <a:lumMod val="90000"/>
                  <a:lumOff val="1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9340" y="1823918"/>
            <a:ext cx="39363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rgbClr val="FFFFFF"/>
                </a:solidFill>
              </a:rPr>
              <a:t>Session</a:t>
            </a:r>
            <a:endParaRPr lang="en-US" sz="6600" b="1" dirty="0">
              <a:solidFill>
                <a:srgbClr val="FFFFFF"/>
              </a:solidFill>
            </a:endParaRPr>
          </a:p>
        </p:txBody>
      </p:sp>
      <p:sp>
        <p:nvSpPr>
          <p:cNvPr id="6" name="Hexagon 5"/>
          <p:cNvSpPr/>
          <p:nvPr/>
        </p:nvSpPr>
        <p:spPr>
          <a:xfrm rot="16200000">
            <a:off x="1612986" y="1635103"/>
            <a:ext cx="4605329" cy="3974465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3D638ACE-163E-40EB-A458-E794C67EA2A6}"/>
              </a:ext>
            </a:extLst>
          </p:cNvPr>
          <p:cNvSpPr txBox="1">
            <a:spLocks/>
          </p:cNvSpPr>
          <p:nvPr/>
        </p:nvSpPr>
        <p:spPr>
          <a:xfrm>
            <a:off x="5731432" y="4812996"/>
            <a:ext cx="5816279" cy="1616252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Instructor: </a:t>
            </a:r>
          </a:p>
          <a:p>
            <a:endParaRPr lang="en-US" sz="5400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Md. </a:t>
            </a:r>
            <a:r>
              <a:rPr lang="en-US" sz="5400" dirty="0" err="1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Safayet</a:t>
            </a:r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Hossain</a:t>
            </a:r>
          </a:p>
          <a:p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Lecturer, </a:t>
            </a:r>
          </a:p>
          <a:p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Statistics</a:t>
            </a:r>
          </a:p>
          <a:p>
            <a:r>
              <a:rPr lang="en-US" sz="5400" dirty="0" err="1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Comilla</a:t>
            </a:r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University</a:t>
            </a:r>
            <a:endParaRPr lang="en-US" sz="5400" dirty="0">
              <a:solidFill>
                <a:schemeClr val="tx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03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What is SPSS?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4338" y="1514475"/>
            <a:ext cx="7243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SPSS = Statistical Package for the Social Sciences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743" y="1976140"/>
            <a:ext cx="5745113" cy="25523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6" y="2368912"/>
            <a:ext cx="2973615" cy="21595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1300" y="4555259"/>
            <a:ext cx="7175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SPSS Statistics is a statistical software suite developed by IBM for data management, advanced analytics, multivariate analysis, business intelligence, and criminal investigation.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1300" y="5413058"/>
            <a:ext cx="71755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provides accessible tools for handling and interpreting data. </a:t>
            </a:r>
            <a:endParaRPr lang="en-US" sz="16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1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is also used by market researchers, health researchers, survey companies, government, education researchers, industries, marketing organizations, data miners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sz="1600" baseline="30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 and others.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8100" y="4555259"/>
            <a:ext cx="45339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Developers: 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Norman H. </a:t>
            </a:r>
            <a:r>
              <a:rPr lang="en-US" sz="16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Nie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, Dale H. Bent, C. </a:t>
            </a:r>
            <a:r>
              <a:rPr lang="en-US" sz="16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Hadlai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 Hull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Initial release: 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1968; 58 years ago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Mother company: 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IBM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Version: 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(SPSS 1 – 1968 to SPSS 31 - 2025)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 smtClean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Extension: 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(.</a:t>
            </a:r>
            <a:r>
              <a:rPr lang="en-US" sz="16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dta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23647" y="1901941"/>
            <a:ext cx="5225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(Statistical Product and Service Solutions)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6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Application and uses of SPSS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41301" y="1524285"/>
            <a:ext cx="7418673" cy="4632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Applications: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Management -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Enter, organize, and clean large datasets easily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Descriptive Statistics -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Calculate mean, median, mode, frequency, std. dev.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Analysis -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Correlation, regression, hypothesis testing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Visualization -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Create charts (bar, pie, histogram) for better understanding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Hypothesis Testing -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T-test, ANOVA, Chi-square for decision making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Survey &amp; Research Analysis -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Analyze questionnaire and </a:t>
            </a:r>
            <a:r>
              <a:rPr lang="en-US" sz="1700" dirty="0" err="1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Likert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-scale data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Health &amp; Social Science Research -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Used in public health, psychology, sociology studies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&amp; Market Research -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analysis, satisfaction, trend analysis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Academic Research -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Thesis, dissertations, journal publications⚙️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7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Predictive Modeling </a:t>
            </a: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 Forecast outcomes using regression models</a:t>
            </a:r>
            <a:endParaRPr lang="en-US" sz="17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59974" y="1545704"/>
            <a:ext cx="6096000" cy="43858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Uses: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Education: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student and research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Health: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patient and clinical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Business: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market and customer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Banking: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risk and forecasting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Government: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policy and census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Social science: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behavior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Marketing: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consumer insights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NGOs: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impact evaluation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HR: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employee analysis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39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/>
              <a:t>Advantages and Disadvantages of SPSS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77371" y="1476552"/>
            <a:ext cx="5907315" cy="41780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7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User-friendly </a:t>
            </a:r>
            <a:r>
              <a:rPr lang="en-US" sz="17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interface that is easy for beginners to learn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Fast processing of large datasets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Wide range of statistical analysis tools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Built-in options for creating graphs and charts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Efficient data entry, cleaning, and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Produces accurate and reliable results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Widely accepted in academic and professional research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Allows analysis to be saved and repeated using syntax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7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Can integrate with other software like Excel, R, and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0343" y="1596100"/>
            <a:ext cx="6096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Disadvantages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Expensive software with high licensing cost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Limited flexibility compared to programming tools like R or Python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Less suitable for very advanced or customized analyses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Requires proper understanding to interpret results correctly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Not ideal for handling extremely large or complex datasets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Limited graphical customization compared to modern tools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Dependence on GUI may reduce deeper statistical understanding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Syntax usage is less intuitive for beginners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Updates and extensions are relatively restricted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34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335721"/>
            <a:ext cx="11214100" cy="978729"/>
          </a:xfrm>
        </p:spPr>
        <p:txBody>
          <a:bodyPr/>
          <a:lstStyle/>
          <a:p>
            <a:r>
              <a:rPr lang="en-US" dirty="0" smtClean="0"/>
              <a:t>Advantages of SPSS over Excel, STATA and Programming Language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02719"/>
              </p:ext>
            </p:extLst>
          </p:nvPr>
        </p:nvGraphicFramePr>
        <p:xfrm>
          <a:off x="595086" y="1634062"/>
          <a:ext cx="11063516" cy="46114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400"/>
                <a:gridCol w="3093358"/>
                <a:gridCol w="2765879"/>
                <a:gridCol w="2765879"/>
              </a:tblGrid>
              <a:tr h="7363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SPSS Advantage over Excel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SPSS Advantage over </a:t>
                      </a:r>
                      <a:r>
                        <a:rPr lang="en-US" sz="1900" b="1" dirty="0" err="1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Stata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SPSS Advantage over Programming Languages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36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Ease of Use</a:t>
                      </a:r>
                      <a:endParaRPr lang="en-US" sz="1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More statistical tools built-in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Easier GUI interface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coding required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36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Handling</a:t>
                      </a:r>
                      <a:endParaRPr lang="en-US" sz="1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Better for large datasets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Simpler data import/export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syntax needed for data management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36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Process</a:t>
                      </a:r>
                      <a:endParaRPr lang="en-US" sz="1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procedures available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More user-friendly menus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 point-and-click analysis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36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Curve</a:t>
                      </a:r>
                      <a:endParaRPr lang="en-US" sz="1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Easier for beginners than Excel advanced tools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Less command-based complexity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programming knowledge required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36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Output Interpretation</a:t>
                      </a:r>
                      <a:endParaRPr lang="en-US" sz="1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Clear, ready-made tables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More visually structured outputs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formatted reports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25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Basic Statistics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1300" y="1948354"/>
            <a:ext cx="117792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Statistics, a branch of mathematics, is the science of collecting,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organising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analysing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, and interpreting data to make an informed decisions.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1300" y="1369792"/>
            <a:ext cx="117792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Statistics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735" y="2848517"/>
            <a:ext cx="9249230" cy="383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6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Types of Statistics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4670" y="1827666"/>
            <a:ext cx="9267373" cy="376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2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8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Population, Sample and Sampling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1600" y="1456014"/>
            <a:ext cx="10528300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rgbClr val="47C3D3"/>
              </a:buClr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Population: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totality or collection of all objects on which observations are taken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350" y="1894503"/>
            <a:ext cx="5873750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rgbClr val="47C3D3"/>
              </a:buClr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Sample: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representative part or subset of a population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1945" r="1197"/>
          <a:stretch/>
        </p:blipFill>
        <p:spPr>
          <a:xfrm>
            <a:off x="0" y="3006081"/>
            <a:ext cx="6419850" cy="339432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356" y="3083869"/>
            <a:ext cx="5130244" cy="28347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3350" y="2406821"/>
            <a:ext cx="11684000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47C3D3"/>
              </a:buClr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Sampling: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Sampling is the process of selecting sample from a representative population.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77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9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Parameter and Statistic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837" t="35227" r="16445"/>
          <a:stretch/>
        </p:blipFill>
        <p:spPr>
          <a:xfrm>
            <a:off x="411163" y="4017153"/>
            <a:ext cx="5214937" cy="224036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41299" y="1484691"/>
            <a:ext cx="63595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Parameter: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 numerical value that describes a characteristic of an entire population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1299" y="2366940"/>
            <a:ext cx="5934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Statistic: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 numerical value that describes a characteristic of a sample drawn from a population.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5349" y="3673033"/>
            <a:ext cx="1549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Parameter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76699" y="3686115"/>
            <a:ext cx="1549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Statistic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34375" r="37188"/>
          <a:stretch/>
        </p:blipFill>
        <p:spPr>
          <a:xfrm>
            <a:off x="7372349" y="4013390"/>
            <a:ext cx="4083051" cy="230168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-512" t="9219" r="27956" b="47825"/>
          <a:stretch/>
        </p:blipFill>
        <p:spPr>
          <a:xfrm>
            <a:off x="7077393" y="1337935"/>
            <a:ext cx="4192175" cy="233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9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10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Variable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41299" y="1530786"/>
            <a:ext cx="71000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Variable: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Variable is a changeable characteristic of the experimental units under consideration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Examples: A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worker’s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age, Religion, Gender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826" t="2233" r="1324" b="2328"/>
          <a:stretch/>
        </p:blipFill>
        <p:spPr>
          <a:xfrm>
            <a:off x="7721601" y="1392259"/>
            <a:ext cx="3733799" cy="2692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41299" y="2610952"/>
            <a:ext cx="74803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. Qualitative: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cannot be measured on a natural numerical, but measures qualitative characteristic on each experimental unit. 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Examples: Religion of a student, Gender, Economic status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298" y="3624560"/>
            <a:ext cx="69973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ii. Quantitative: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measures a numerical quantity or amount on each experimental unit.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Examples: Number of children per family, Daily wage, Systolic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BP.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43" t="26375" r="-543" b="24991"/>
          <a:stretch/>
        </p:blipFill>
        <p:spPr>
          <a:xfrm>
            <a:off x="664863" y="5041225"/>
            <a:ext cx="6091536" cy="177007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255549" y="4689337"/>
            <a:ext cx="1549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Discrete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78150" y="4689337"/>
            <a:ext cx="1549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Continuous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4600" y="4255966"/>
            <a:ext cx="4597400" cy="25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4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11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/>
              <a:t>Scale/Levels of Measurement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42898" y="1403786"/>
            <a:ext cx="117602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Scale of measurement: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A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for classifying and measuring data based on the nature of values and the level of information they provide.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28190" y="2139453"/>
            <a:ext cx="5024823" cy="2788362"/>
            <a:chOff x="342898" y="2139453"/>
            <a:chExt cx="5428586" cy="2788362"/>
          </a:xfrm>
        </p:grpSpPr>
        <p:pic>
          <p:nvPicPr>
            <p:cNvPr id="13" name="Picture 4" descr="What are the Scales of Measurement? - Business Jargon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898" y="2139453"/>
              <a:ext cx="3327400" cy="27883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 rot="498442">
              <a:off x="4212350" y="2917795"/>
              <a:ext cx="1559134" cy="53926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</a:rPr>
                <a:t>Qualitative</a:t>
              </a:r>
              <a:r>
                <a:rPr lang="en-US" sz="1600" dirty="0" smtClean="0">
                  <a:solidFill>
                    <a:schemeClr val="bg1"/>
                  </a:solidFill>
                </a:rPr>
                <a:t> 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5" name="Right Brace 14"/>
            <p:cNvSpPr/>
            <p:nvPr/>
          </p:nvSpPr>
          <p:spPr>
            <a:xfrm rot="398117">
              <a:off x="3717733" y="2745579"/>
              <a:ext cx="410307" cy="539261"/>
            </a:xfrm>
            <a:prstGeom prst="rightBrace">
              <a:avLst/>
            </a:prstGeom>
            <a:ln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/>
            <p:cNvSpPr/>
            <p:nvPr/>
          </p:nvSpPr>
          <p:spPr>
            <a:xfrm rot="398117">
              <a:off x="3700079" y="4002201"/>
              <a:ext cx="410307" cy="539261"/>
            </a:xfrm>
            <a:prstGeom prst="rightBrace">
              <a:avLst/>
            </a:prstGeom>
            <a:ln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 rot="498442">
              <a:off x="4171275" y="4100929"/>
              <a:ext cx="1496672" cy="53926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</a:rPr>
                <a:t>Quantitative</a:t>
              </a:r>
            </a:p>
            <a:p>
              <a:pPr algn="ctr"/>
              <a:r>
                <a:rPr lang="en-US" sz="1600" b="1" dirty="0" smtClean="0">
                  <a:solidFill>
                    <a:schemeClr val="bg1"/>
                  </a:solidFill>
                </a:rPr>
                <a:t>(Scale)</a:t>
              </a:r>
              <a:r>
                <a:rPr lang="en-US" sz="1600" dirty="0" smtClean="0">
                  <a:solidFill>
                    <a:schemeClr val="bg1"/>
                  </a:solidFill>
                </a:rPr>
                <a:t> 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6" name="Picture 2" descr="interval scale vs ratio scal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72" b="16484"/>
          <a:stretch/>
        </p:blipFill>
        <p:spPr bwMode="auto">
          <a:xfrm>
            <a:off x="0" y="5329864"/>
            <a:ext cx="5477880" cy="152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733697"/>
              </p:ext>
            </p:extLst>
          </p:nvPr>
        </p:nvGraphicFramePr>
        <p:xfrm>
          <a:off x="5559217" y="2139453"/>
          <a:ext cx="6413500" cy="2411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Document" r:id="rId6" imgW="5940848" imgH="2082702" progId="Word.Document.12">
                  <p:embed/>
                </p:oleObj>
              </mc:Choice>
              <mc:Fallback>
                <p:oleObj name="Document" r:id="rId6" imgW="5940848" imgH="20827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59217" y="2139453"/>
                        <a:ext cx="6413500" cy="24110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Picture 4" descr="Nominal Data vs. Ordinal Data: What's the Difference? | Built I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737" y="4370559"/>
            <a:ext cx="4466633" cy="232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18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12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Overview of SPSS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721863"/>
              </p:ext>
            </p:extLst>
          </p:nvPr>
        </p:nvGraphicFramePr>
        <p:xfrm>
          <a:off x="635000" y="1557052"/>
          <a:ext cx="10820400" cy="352196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Toolbar/Menu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Application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File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Open, save, import, export datasets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Edit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Modify data, undo/redo, find/replace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View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Customize display, toolbars, value labels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Sort, select, split, merge, restructure data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Transform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Create new variables, recode, compute values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Analyze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Perform statistical tests and analysis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Graphs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Create charts and visualizations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Utilities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View variable info, file info, system settings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Extensions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 extra features/plugins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Switch between open files/output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Help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Access guidance and documentation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6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13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Variable naming rules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483295"/>
              </p:ext>
            </p:extLst>
          </p:nvPr>
        </p:nvGraphicFramePr>
        <p:xfrm>
          <a:off x="1093788" y="1614488"/>
          <a:ext cx="6856412" cy="470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Document" r:id="rId4" imgW="5940848" imgH="4700049" progId="Word.Document.12">
                  <p:embed/>
                </p:oleObj>
              </mc:Choice>
              <mc:Fallback>
                <p:oleObj name="Document" r:id="rId4" imgW="5940848" imgH="47000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3788" y="1614488"/>
                        <a:ext cx="6856412" cy="4700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460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14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Central Tendency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6" descr="Statistical Measures of Central Tendenc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4" y="2544178"/>
            <a:ext cx="4467226" cy="346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22274" y="1556345"/>
            <a:ext cx="112363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Central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tendency: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tendency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statistical concept that describes the central or typical value of a dataset, around which all other observations tend to cluster</a:t>
            </a:r>
          </a:p>
        </p:txBody>
      </p:sp>
      <p:pic>
        <p:nvPicPr>
          <p:cNvPr id="8" name="Picture 8" descr="Central tendency | By Camilo Mora, Ph.D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977" y="3035706"/>
            <a:ext cx="5721519" cy="244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89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15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Dispersion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22274" y="1556345"/>
            <a:ext cx="112363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Measures of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dispersion: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Measures of dispersion describe the spread or variability of data values around a central value (mean, median, or mode). They show how scattered or consistent the data is.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4552" y="2656585"/>
            <a:ext cx="5543920" cy="33169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22273" y="2274906"/>
            <a:ext cx="57264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Absolute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measures: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Absolute measures show the actual amount of variation in the same unit as the data. They express dispersion in original units (kg, years, income,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273" y="3506124"/>
            <a:ext cx="55400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Relative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measures: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Relative measures show the proportional or percentage variation relative to the central value. They are unit-free (standardized)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4432" t="2814" r="8167" b="22165"/>
          <a:stretch/>
        </p:blipFill>
        <p:spPr>
          <a:xfrm>
            <a:off x="1003299" y="4493213"/>
            <a:ext cx="3848101" cy="230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4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27928_Hexagon presentation dark_AAS_v4" id="{00715B48-F6B0-4FD0-BA2D-34714F23D55A}" vid="{445656DE-313E-4A78-B834-A775A8573BF1}"/>
    </a:ext>
  </a:extLst>
</a:theme>
</file>

<file path=ppt/theme/theme2.xml><?xml version="1.0" encoding="utf-8"?>
<a:theme xmlns:a="http://schemas.openxmlformats.org/drawingml/2006/main" name="2_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1016</Words>
  <Application>Microsoft Office PowerPoint</Application>
  <PresentationFormat>Widescreen</PresentationFormat>
  <Paragraphs>163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1" baseType="lpstr">
      <vt:lpstr>Arial</vt:lpstr>
      <vt:lpstr>Arial Black</vt:lpstr>
      <vt:lpstr>Arial Rounded MT Bold</vt:lpstr>
      <vt:lpstr>Calibri</vt:lpstr>
      <vt:lpstr>Calibri Light</vt:lpstr>
      <vt:lpstr>Cambria</vt:lpstr>
      <vt:lpstr>CiscoSans ExtraLight</vt:lpstr>
      <vt:lpstr>Gill Sans SemiBold</vt:lpstr>
      <vt:lpstr>Tahoma</vt:lpstr>
      <vt:lpstr>Times New Roman</vt:lpstr>
      <vt:lpstr>Trade Gothic LT Pro</vt:lpstr>
      <vt:lpstr>Trebuchet MS</vt:lpstr>
      <vt:lpstr>Wingdings</vt:lpstr>
      <vt:lpstr>1_Office Theme</vt:lpstr>
      <vt:lpstr>2_Office Theme</vt:lpstr>
      <vt:lpstr>Document</vt:lpstr>
      <vt:lpstr>INTRODUCTION TO</vt:lpstr>
      <vt:lpstr>What is SPSS? </vt:lpstr>
      <vt:lpstr>Application and uses of SPSS</vt:lpstr>
      <vt:lpstr>Advantages and Disadvantages of SPSS</vt:lpstr>
      <vt:lpstr>Advantages of SPSS over Excel, STATA and Programming Language </vt:lpstr>
      <vt:lpstr>Basic Statistics </vt:lpstr>
      <vt:lpstr>Types of Statistics</vt:lpstr>
      <vt:lpstr>Population, Sample and Sampling</vt:lpstr>
      <vt:lpstr>Parameter and Statistic</vt:lpstr>
      <vt:lpstr>Variable</vt:lpstr>
      <vt:lpstr>Scale/Levels of Measurement </vt:lpstr>
      <vt:lpstr>Overview of SPSS</vt:lpstr>
      <vt:lpstr>Variable naming rules</vt:lpstr>
      <vt:lpstr>Central Tendency </vt:lpstr>
      <vt:lpstr>Dispersion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57</cp:revision>
  <dcterms:created xsi:type="dcterms:W3CDTF">2026-05-01T03:43:56Z</dcterms:created>
  <dcterms:modified xsi:type="dcterms:W3CDTF">2026-05-01T17:40:27Z</dcterms:modified>
</cp:coreProperties>
</file>